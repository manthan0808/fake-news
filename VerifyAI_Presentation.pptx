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2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64008" cy="4572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VerifyAI</a:t>
            </a:r>
          </a:p>
          <a:p>
            <a:pPr algn="l"/>
            <a:r>
              <a:rPr sz="2200" b="0" i="0">
                <a:solidFill>
                  <a:srgbClr val="8184F8"/>
                </a:solidFill>
                <a:latin typeface="Calibri"/>
              </a:rPr>
              <a:t>AI-Powered Fake News Detection</a:t>
            </a:r>
          </a:p>
          <a:p>
            <a:pPr algn="l"/>
            <a:r>
              <a:rPr sz="2200" b="0" i="0">
                <a:solidFill>
                  <a:srgbClr val="8184F8"/>
                </a:solidFill>
                <a:latin typeface="Calibri"/>
              </a:rPr>
              <a:t>&amp; Verification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94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"Fight Misinformation with Multi-Layer AI Verification"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914400"/>
            <a:ext cx="6126480" cy="48463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📋  Project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5544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Project 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55448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VerifyAI — Fake News Detection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0116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Degree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01168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B.Tech — Computer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4688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Semester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46888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Semester 7  |  Final Year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9260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92608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Artificial Intelligence &amp; Web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3832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Tech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38328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React.js · Python · ML / NLP · REST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8404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Current 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84048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Stage 1 — Frontend 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2976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429768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___________________________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47548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75488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___________________________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B.Tech Final Year Project  |  AI-Powered Misinformation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34440"/>
            <a:ext cx="457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366F1"/>
                </a:solidFill>
                <a:latin typeface="Calibri"/>
              </a:rPr>
              <a:t>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417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Fake News Crisis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993392"/>
            <a:ext cx="11430000" cy="109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148840"/>
            <a:ext cx="685800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58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037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Rapid Spread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78024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Fake news spreads 6× faster than real news on social media (MIT Study, 2018).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898648"/>
            <a:ext cx="685800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08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535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Mass 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27832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64% of people have been exposed to clearly fabricated news stories.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648456"/>
            <a:ext cx="685800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5818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033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WhatsApp Epidemic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39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India is among the top countries affected by misinformation via WhatsApp &amp; social media.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4398264"/>
            <a:ext cx="685800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507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45312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Manual &amp; Slow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27448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Traditional fact-checking is manual, slow, and cannot scale to the volume of daily news.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5148072"/>
            <a:ext cx="685800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029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 Accessible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477256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No real-time, multi-layer, regional-language verification tool exists for Indian users.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2148840"/>
            <a:ext cx="4389120" cy="44805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79" y="22860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📊  Key Statistics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2743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444"/>
                </a:solidFill>
                <a:latin typeface="Calibri"/>
              </a:rPr>
              <a:t>6×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Faster spread of fake news
vs. real news (MIT Study)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363931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Calibri"/>
              </a:rPr>
              <a:t>64%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36850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People exposed to fabricated
news globally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535424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  <a:latin typeface="Calibri"/>
              </a:rPr>
              <a:t>89%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58114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Target detection accuracy
for VerifyAI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543153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B6D4"/>
                </a:solidFill>
                <a:latin typeface="Calibri"/>
              </a:rPr>
              <a:t>120+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5477255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News sources tracked in
our credibility 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34440"/>
            <a:ext cx="457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366F1"/>
                </a:solidFill>
                <a:latin typeface="Calibri"/>
              </a:rPr>
              <a:t>PROJECT AIM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VerifyAI Aims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2057400"/>
            <a:ext cx="11430000" cy="109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103120"/>
            <a:ext cx="11430000" cy="960120"/>
          </a:xfrm>
          <a:prstGeom prst="rect">
            <a:avLst/>
          </a:prstGeom>
          <a:solidFill>
            <a:srgbClr val="1A1F3A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1762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🎯  PROJECT 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50592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To develop a web-based AI platform that analyzes news articles for credibility using multiple verification layers — including ML classification, claim extraction, source credibility scoring, and sentiment analysis — providing explainable, real-time results to everyday users.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3218688"/>
            <a:ext cx="557784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284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2841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Classify news as:  Likely Real · Likely Fake · Misleading · Unverified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904487"/>
            <a:ext cx="557784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14215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Extract and verify individual factual claims from news content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4590288"/>
            <a:ext cx="557784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000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70001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Evaluate publishing source credibility (120+ sources tracked)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5276088"/>
            <a:ext cx="557784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385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8581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Detect clickbait, emotional manipulation &amp; sensationalism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218688"/>
            <a:ext cx="557784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3284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332841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Analyze sentiment, bias, fear-triggering language patterns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904487"/>
            <a:ext cx="557784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401421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4014215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Provide Explainable AI — show WHY content was flagged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590288"/>
            <a:ext cx="557784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47000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470001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Support multilingual analysis: Hindi, Gujarati (Stage 6)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5276088"/>
            <a:ext cx="557784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5385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3992" y="538581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Build an Admin Portal for platform management &amp; ML monitoring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34440"/>
            <a:ext cx="457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366F1"/>
                </a:solidFill>
                <a:latin typeface="Calibri"/>
              </a:rPr>
              <a:t>SYSTEM ARCHITECTURE &amp;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the System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2057400"/>
            <a:ext cx="11430000" cy="109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148840"/>
            <a:ext cx="114300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2148840"/>
            <a:ext cx="73152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2199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🖥  Frontend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3288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React.js (Vite)  ·  React Router DOM  ·  Recharts  ·  Lucide Icons  ·  CSS 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017520"/>
            <a:ext cx="114300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3017520"/>
            <a:ext cx="73152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906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🔗  API Service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0156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newsService  ·  dashboardService  ·  adminService  ·  bookmarkService  ·  sourceService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886200"/>
            <a:ext cx="114300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3886200"/>
            <a:ext cx="73152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5935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⚙️  Backend Layer  (Stage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7024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Node.js / Python Flask  ·  REST API  ·  JWT Authentication  ·  PostgreSQL / MongoDB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4754880"/>
            <a:ext cx="114300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4754880"/>
            <a:ext cx="73152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82803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🤖  ML / NLP Engine  (Stage 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1389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BERT  ·  Logistic Regression  ·  Random Forest  ·  TF-IDF  ·  Trained on LIAR + FakeNewsNet + ISOT Datasets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5623560"/>
            <a:ext cx="114300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5623560"/>
            <a:ext cx="73152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69671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🌐  External Integrations  (Stage 4–5)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00760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BeautifulSoup / Puppeteer (URL Scraping)  ·  Google Fact Check API  ·  Snopes  ·  PolitiFact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6473952"/>
            <a:ext cx="2482596" cy="256032"/>
          </a:xfrm>
          <a:prstGeom prst="rect">
            <a:avLst/>
          </a:prstGeom>
          <a:solidFill>
            <a:srgbClr val="1A2334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" y="6492240"/>
            <a:ext cx="23454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C55E"/>
                </a:solidFill>
                <a:latin typeface="Calibri"/>
              </a:rPr>
              <a:t>✅ Stage 1 — Frontend Complete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6473952"/>
            <a:ext cx="1860804" cy="256032"/>
          </a:xfrm>
          <a:prstGeom prst="rect">
            <a:avLst/>
          </a:prstGeom>
          <a:solidFill>
            <a:srgbClr val="1A2334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4408" y="6492240"/>
            <a:ext cx="17236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🔄 Stage 2–6 — Planned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34440"/>
            <a:ext cx="457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366F1"/>
                </a:solidFill>
                <a:latin typeface="Calibr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12 Verification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2057400"/>
            <a:ext cx="11430000" cy="109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148840"/>
            <a:ext cx="278892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2148840"/>
            <a:ext cx="27889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2240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26517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AI Fake News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2953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ML models analyze text patterns &amp; linguistic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6975" y="2148840"/>
            <a:ext cx="278892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36975" y="2148840"/>
            <a:ext cx="27889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6703" y="2240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3" y="26517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Claim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3" y="2953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Extract &amp; verify claims against fact-checking databases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9903" y="2148840"/>
            <a:ext cx="278892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3" y="2148840"/>
            <a:ext cx="2788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1" y="2240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1" y="26517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Source Credibility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1" y="2953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120+ news sources rated with credibility scores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2148840"/>
            <a:ext cx="278892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2148840"/>
            <a:ext cx="278892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59" y="2240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59" y="26517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Clickbait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59" y="2953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Identify sensational headlines &amp; emotional bait language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3447288"/>
            <a:ext cx="278892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3447288"/>
            <a:ext cx="27889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35387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39502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Sentiment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Measure fear, urgency, bias, and emotional tone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36975" y="3447288"/>
            <a:ext cx="278892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36975" y="3447288"/>
            <a:ext cx="27889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6703" y="35387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6703" y="39502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Evidence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46703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Supporting &amp; contradicting evidence from archives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9903" y="3447288"/>
            <a:ext cx="278892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89903" y="3447288"/>
            <a:ext cx="27889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9631" y="35387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1" y="39502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URL &amp; Source Scraping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1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Auto-extract article content from any news URL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42832" y="3447288"/>
            <a:ext cx="278892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42832" y="3447288"/>
            <a:ext cx="27889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59" y="35387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59" y="39502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Multilingual 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59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Hindi, Gujarati &amp; regional languages (Stage 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" y="4745736"/>
            <a:ext cx="278892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4048" y="4745736"/>
            <a:ext cx="2788920" cy="36576"/>
          </a:xfrm>
          <a:prstGeom prst="rect">
            <a:avLst/>
          </a:prstGeom>
          <a:solidFill>
            <a:srgbClr val="818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" y="48371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" y="52486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Explainable 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" y="55504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Shows WHY content was flagged, not just what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36975" y="4745736"/>
            <a:ext cx="278892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36975" y="4745736"/>
            <a:ext cx="278892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6703" y="48371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46703" y="52486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Verification History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46703" y="55504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Full history with search, filters &amp; timeline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9903" y="4745736"/>
            <a:ext cx="278892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89903" y="4745736"/>
            <a:ext cx="27889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99631" y="48371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99631" y="52486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Analytics Dashboard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99631" y="55504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Credibility distribution &amp; consumption patterns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42832" y="4745736"/>
            <a:ext cx="278892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942832" y="4745736"/>
            <a:ext cx="2788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52559" y="48371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59" y="52486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AI Assistant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59" y="55504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Chat-based assistant to explain analysis results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34440"/>
            <a:ext cx="457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366F1"/>
                </a:solidFill>
                <a:latin typeface="Calibri"/>
              </a:rPr>
              <a:t>USER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VerifyAI Works — 3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2057400"/>
            <a:ext cx="11430000" cy="109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148840"/>
            <a:ext cx="3657600" cy="44805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2148840"/>
            <a:ext cx="36576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6366F1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21284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614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Submit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82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Paste news article text (min 20 chars)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OR enter a news article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502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OR upload a screenshot /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3425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Supported: text, URL, PNG/JPG/WEBP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2148840"/>
            <a:ext cx="3657600" cy="44805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2148840"/>
            <a:ext cx="36576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2212848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B5CF6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221284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27614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AI Analyzes Everything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3182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① Extract article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3566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② Clean &amp; preprocess 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9502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③ Analyze language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33425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④ Check source credibility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47183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⑤ Extract factual claims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51023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⑥ Search for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5486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⑦ Run ML / AI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58704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⑧ Generate credibility score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47888" y="2148840"/>
            <a:ext cx="3657600" cy="44805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47888" y="2148840"/>
            <a:ext cx="36576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2212848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2C55E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221284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7614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Get 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182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Credibility Score (0–100)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566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Verdict: Real / Fake / Misleading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9502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Claim-by-claim breakdown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33425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Sentiment &amp; bias charts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7183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Evidence articles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1023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Explainable AI reasoning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486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  Save, Share &amp; Download 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366F1"/>
                </a:solidFill>
                <a:latin typeface="Calibri"/>
              </a:rPr>
              <a:t>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366F1"/>
                </a:solidFill>
                <a:latin typeface="Calibri"/>
              </a:rPr>
              <a:t>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34440"/>
            <a:ext cx="457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366F1"/>
                </a:solidFill>
                <a:latin typeface="Calibri"/>
              </a:rPr>
              <a:t>CORE OUTPUT — RESULT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Detailed Analysis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2057400"/>
            <a:ext cx="11430000" cy="109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121408"/>
            <a:ext cx="3977639" cy="45262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🎯  Credibility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22C55E"/>
                </a:solidFill>
                <a:latin typeface="Calibri"/>
              </a:rPr>
              <a:t>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11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050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22C55E"/>
                </a:solidFill>
                <a:latin typeface="Calibri"/>
              </a:rPr>
              <a:t>✓  LIKELY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805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Source 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4805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2C55E"/>
                </a:solidFill>
                <a:latin typeface="Calibri"/>
              </a:rPr>
              <a:t>82%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700016"/>
            <a:ext cx="2834640" cy="73152"/>
          </a:xfrm>
          <a:prstGeom prst="rect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700016"/>
            <a:ext cx="2324404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9377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Content Authenticity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9377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2C55E"/>
                </a:solidFill>
                <a:latin typeface="Calibri"/>
              </a:rPr>
              <a:t>78%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157216"/>
            <a:ext cx="2834640" cy="73152"/>
          </a:xfrm>
          <a:prstGeom prst="rect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157216"/>
            <a:ext cx="2211019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3949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Claim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3949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2C55E"/>
                </a:solidFill>
                <a:latin typeface="Calibri"/>
              </a:rPr>
              <a:t>90%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614416"/>
            <a:ext cx="2834640" cy="73152"/>
          </a:xfrm>
          <a:prstGeom prst="rect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614416"/>
            <a:ext cx="2551176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52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Sentiment Neutrality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8521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  <a:latin typeface="Calibri"/>
              </a:rPr>
              <a:t>71%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071616"/>
            <a:ext cx="2834640" cy="73152"/>
          </a:xfrm>
          <a:prstGeom prst="rect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6071616"/>
            <a:ext cx="201259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2121408"/>
            <a:ext cx="36576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2121408"/>
            <a:ext cx="54864" cy="1143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📋  Verdict Badge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2505456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4 possible outputs:  ✓ Likely Real  |  ✗ Likely Fake
⚠ Potentially Misleading  |  ?  Unverified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2121408"/>
            <a:ext cx="36576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66760" y="2121408"/>
            <a:ext cx="54864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🔍  Claim Cards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1352" y="2505456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Each extracted claim shown with status:
Supported  ·  Contradicted  ·  Unverified
Expandable with source evidence links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429000"/>
            <a:ext cx="36576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429000"/>
            <a:ext cx="54864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36592" y="35021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📊  Sentiment Charts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36592" y="381304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Pie chart: Positive / Neutral / Negative
Bias, urgency &amp; fear-level indicators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3429000"/>
            <a:ext cx="36576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66760" y="3429000"/>
            <a:ext cx="54864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31352" y="35021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📰  Evidence Section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31352" y="381304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Articles supporting or contradicting news
with verified source links &amp; timestamps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4736592"/>
            <a:ext cx="36576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4736592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36592" y="48097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👁  Explainable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36592" y="51206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Plain-language reasoning: why the AI
flagged this content — fully transparent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66760" y="4736592"/>
            <a:ext cx="36576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66760" y="4736592"/>
            <a:ext cx="54864" cy="11430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31352" y="48097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💾  Actions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31352" y="51206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Save / Bookmark  ·  Share  ·  Download PDF report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34440"/>
            <a:ext cx="457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366F1"/>
                </a:solidFill>
                <a:latin typeface="Calibri"/>
              </a:rPr>
              <a:t>ADMIN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Platform Management &amp; Admin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2057400"/>
            <a:ext cx="11430000" cy="109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148840"/>
            <a:ext cx="557784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2148840"/>
            <a:ext cx="54864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58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22219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Admin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256946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Separate secure admin authentication with role-based access 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48840"/>
            <a:ext cx="557784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148840"/>
            <a:ext cx="54864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258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22219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56946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Platform-wide stats: Users, News Checked, Fake/Real Detected, Reports; Daily Volume Charts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990088"/>
            <a:ext cx="557784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2990088"/>
            <a:ext cx="54864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99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0632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User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" y="341071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View all registered users, manage accounts, view check history per user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990088"/>
            <a:ext cx="557784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990088"/>
            <a:ext cx="54864" cy="777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099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30632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Source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341071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View and manage 120+ tracked news sources with credibility ratings &amp; update capability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3831335"/>
            <a:ext cx="557784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3831335"/>
            <a:ext cx="54864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94106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5" y="3904487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Reports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5" y="425195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View user-submitted reports about suspicious or incorrectly classified content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831335"/>
            <a:ext cx="557784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831335"/>
            <a:ext cx="54864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394106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3904487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ML Model 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425195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Track Accuracy, Precision, Recall, F1-Score per model (BERT, LR, RF) — populated in Stage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4672583"/>
            <a:ext cx="557784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4048" y="4672583"/>
            <a:ext cx="54864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782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5" y="474573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5" y="5093207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Platform-wide usage trends, detection rates, category distribution over time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672583"/>
            <a:ext cx="557784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672583"/>
            <a:ext cx="54864" cy="7772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2512" y="4782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76288" y="474573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76288" y="5093207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System-wide notifications and alerts for admins and users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34440"/>
            <a:ext cx="457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366F1"/>
                </a:solidFill>
                <a:latin typeface="Calibri"/>
              </a:rPr>
              <a:t>DEVELOPMENT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Staged Development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2057400"/>
            <a:ext cx="11430000" cy="109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121408"/>
            <a:ext cx="11430000" cy="694944"/>
          </a:xfrm>
          <a:prstGeom prst="rect">
            <a:avLst/>
          </a:prstGeom>
          <a:solidFill>
            <a:srgbClr val="121F12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2121408"/>
            <a:ext cx="54864" cy="69494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1762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2C55E"/>
                </a:solidFill>
                <a:latin typeface="Calibri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762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Frontend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1762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22C55E"/>
                </a:solidFill>
                <a:latin typeface="Calibri"/>
              </a:rPr>
              <a:t>✅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50545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Full React.js UI with 15+ pages · Multi-input (Text, URL, Image) · Admin portal · Mock API data layer · Routing &amp; authentication flows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889503"/>
            <a:ext cx="11430000" cy="694944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2889503"/>
            <a:ext cx="54864" cy="6949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9443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  <a:latin typeface="Calibri"/>
              </a:rPr>
              <a:t>Stage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9443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Backend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9443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Calibri"/>
              </a:rPr>
              <a:t>🔄 UPCOMING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273551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Node.js / Python REST API · PostgreSQL / MongoDB database · JWT authentication · Replace all mock data with real API calls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57599"/>
            <a:ext cx="11430000" cy="694944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3657599"/>
            <a:ext cx="54864" cy="6949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712463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Calibri"/>
              </a:rPr>
              <a:t>Stage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712463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ML Model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71246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Calibri"/>
              </a:rPr>
              <a:t>🔄 PLANNED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04164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Train NLP/ML models on LIAR, FakeNewsNet, ISOT datasets · BERT, Logistic Regression, Random Forest · Integrate prediction APIs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425696"/>
            <a:ext cx="11430000" cy="694944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4425696"/>
            <a:ext cx="54864" cy="6949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48055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Calibri"/>
              </a:rPr>
              <a:t>Stage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48055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URL Scraping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48055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Calibri"/>
              </a:rPr>
              <a:t>🔄 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80974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BeautifulSoup / Puppeteer for article extraction from any URL · Content cleaning &amp; metadata extraction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5193792"/>
            <a:ext cx="11430000" cy="694944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5193792"/>
            <a:ext cx="54864" cy="69494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248655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366F1"/>
                </a:solidFill>
                <a:latin typeface="Calibri"/>
              </a:rPr>
              <a:t>Stage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24865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Claim Verification APIs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524865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Calibri"/>
              </a:rPr>
              <a:t>🔄 PLANNED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57784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Integrate Google Fact Check API · Snopes · PolitiFact · Real-time claim matching against fact-checking databases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961888"/>
            <a:ext cx="11430000" cy="694944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4048" y="5961888"/>
            <a:ext cx="54864" cy="69494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601675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C4899"/>
                </a:solidFill>
                <a:latin typeface="Calibri"/>
              </a:rPr>
              <a:t>Stage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601675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Multilingual &amp; OCR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01675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94A3B8"/>
                </a:solidFill>
                <a:latin typeface="Calibri"/>
              </a:rPr>
              <a:t>🔄 FUTURE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34593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Hindi &amp; Gujarati NLP model support · OCR for screenshot analysis · Regional news source integration · Mobile-responsive PWA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234440"/>
            <a:ext cx="457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366F1"/>
                </a:solidFill>
                <a:latin typeface="Calibri"/>
              </a:rPr>
              <a:t>CONCLUSION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Summary &amp; Future 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2057400"/>
            <a:ext cx="11430000" cy="109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121408"/>
            <a:ext cx="5623560" cy="45262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128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🏆  Stage 1 Achievements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786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  <a:latin typeface="Calibri"/>
              </a:rPr>
              <a:t>✅  Complete interactive frontend — 15+ pages &amp;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0175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  <a:latin typeface="Calibri"/>
              </a:rPr>
              <a:t>✅  Multi-input: Text paste · URL entry · Image upload (drag-drop)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564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  <a:latin typeface="Calibri"/>
              </a:rPr>
              <a:t>✅  12-layer verification architecture fully designed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89534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  <a:latin typeface="Calibri"/>
              </a:rPr>
              <a:t>✅  Dual portal: User dashboard + Admin management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33425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  <a:latin typeface="Calibri"/>
              </a:rPr>
              <a:t>✅  Data visualization: Score circles, bar/pie/area 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773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  <a:latin typeface="Calibri"/>
              </a:rPr>
              <a:t>✅  API service layer structured for Stage 2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212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  <a:latin typeface="Calibri"/>
              </a:rPr>
              <a:t>✅  Role-based routing &amp; authentication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6509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  <a:latin typeface="Calibri"/>
              </a:rPr>
              <a:t>✅  AI Assistant chat interface designed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21408"/>
            <a:ext cx="5577840" cy="205740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2128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📊  Projected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334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366F1"/>
                </a:solidFill>
                <a:latin typeface="Calibri"/>
              </a:rPr>
              <a:t>50,000+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68833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Articles analyzed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821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C55E"/>
                </a:solidFill>
                <a:latin typeface="Calibri"/>
              </a:rPr>
              <a:t>89%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3697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Detection accuracy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307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Calibri"/>
              </a:rPr>
              <a:t>120+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785615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News sources tracked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793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6+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334255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Indian languages supported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315968"/>
            <a:ext cx="5577840" cy="23317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4074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🎯  Real-World Use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54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  <a:latin typeface="Calibri"/>
              </a:rPr>
              <a:t>👨‍🎓  Students &amp; researchers verifying 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7550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  <a:latin typeface="Calibri"/>
              </a:rPr>
              <a:t>📰  Journalists cross-checking news before publishing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5961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  <a:latin typeface="Calibri"/>
              </a:rPr>
              <a:t>👥  Social media users before sharing content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0167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  <a:latin typeface="Calibri"/>
              </a:rPr>
              <a:t>🏛  Government agencies &amp; fact-check organizations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643737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  <a:latin typeface="Calibri"/>
              </a:rPr>
              <a:t>📡  News publishers for editorial quality control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8184F8"/>
                </a:solidFill>
                <a:latin typeface="Calibri"/>
              </a:rPr>
              <a:t>"VerifyAI empowers every citizen to fight misinformation — because truth should be accessible to all."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